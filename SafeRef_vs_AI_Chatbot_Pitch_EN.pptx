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EE2E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 AI Chatbot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compliance engine vs AI-generated answers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gas detection sizing in HVAC &amp; Refrigeration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4A6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Orchitech x SAMON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Process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1737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use PDFs, Excel sheets,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catalogs. Slow, error-prone,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untraceable.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18872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Dedicated Tool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40680" y="1737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offers an integrated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product selection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for gas detection.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88036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88036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089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Safety-Critical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2588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R717 (ammonia), R290 (propane),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R744 (CO2): a wrong calculation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have lethal consequences.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88036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288036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Sales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44068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sales cycles: customers wait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for a manually built quote.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move faster.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Confidential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Possible Approaches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1005840"/>
          </a:xfrm>
          <a:prstGeom prst="rect">
            <a:avLst/>
          </a:prstGeom>
          <a:solidFill>
            <a:srgbClr val="1635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SafeRef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4231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calculation engines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(EN378, ASHRAE 15, ISO 5149),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product database,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wizard, PDF quotes.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188720"/>
            <a:ext cx="2651760" cy="1005840"/>
          </a:xfrm>
          <a:prstGeom prst="rect">
            <a:avLst/>
          </a:prstGeom>
          <a:solidFill>
            <a:srgbClr val="49505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3258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Chatbot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06908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Claude API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66160" y="24231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powered by 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API, prompted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data and regulation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188720"/>
            <a:ext cx="2651760" cy="1005840"/>
          </a:xfrm>
          <a:prstGeom prst="rect">
            <a:avLst/>
          </a:prstGeom>
          <a:solidFill>
            <a:srgbClr val="868E9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4944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Self-hosted LLM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94944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/ Mistral on-prem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46520" y="24231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running on SAMON's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GPU servers, no external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but significant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investment.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Confidential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Hidden Cost: AI Talent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Developer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for: SafeRef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40-60k€/yr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57200" y="3017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Easy to hire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337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skills.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 agency can maintain it.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756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09728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3258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337560" y="2194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for: API Chatbot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3756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50-80k€/yr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3337560" y="3017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Moderate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20440" y="3337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discipline, few proven experts.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understand HVAC domain.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1792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097280"/>
            <a:ext cx="2651760" cy="73152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258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/ AI Engineer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217920" y="2194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for: Self-hosted LLM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1792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80-150k€/yr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6217920" y="3017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Very scarce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400800" y="3337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talent goes to Google, Meta,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 Not to gas detection.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EE2E6"/>
          </a:solidFill>
          <a:ln/>
        </p:spPr>
      </p:sp>
      <p:sp>
        <p:nvSpPr>
          <p:cNvPr id="29" name="Shape 24"/>
          <p:cNvSpPr/>
          <p:nvPr/>
        </p:nvSpPr>
        <p:spPr>
          <a:xfrm>
            <a:off x="457200" y="4434840"/>
            <a:ext cx="54864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0" name="Text 25"/>
          <p:cNvSpPr/>
          <p:nvPr/>
        </p:nvSpPr>
        <p:spPr>
          <a:xfrm>
            <a:off x="731520" y="4434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SAMON has zero AI staff today. Hiring even one ML engineer costs more than 2 years of SafeRef hosting.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Confidential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Cost of Ownership (3-Year)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210312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Chatbot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€3-8k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€15-50k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€20-50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 (third-party)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€500-2,000 (GPU)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talent /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 (web dev)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€50-80k (prompt eng.)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€80-150k (ML eng.)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cost /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€5-30k (usage)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€5-15k GPU upfront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 (admin panel)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Re-index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€500-2k (re-train)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3-year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€170-280k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€280-530k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FEE2E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4160520"/>
            <a:ext cx="54864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talent costs, a chatbot is 100x more expensive than SafeRef over 3 years.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&amp; Accuracy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210312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Chatbot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reproducible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(code)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95-98%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85-95%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Multi-zone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zones, structured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Loses track at 2-3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Loses track at 1-2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 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 tests passing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result in 5 years?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model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model frozen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solidFill>
            <a:srgbClr val="FEE2E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3886200"/>
            <a:ext cx="54864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886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says “probably compliant.” SafeRef says “YES or NO — here is the exact calculation per EN378 §C.3.”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Compliance &amp; Liability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210312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Chatbot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 traceability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trace (EN378 §C.3)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Certifiable by authority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(deterministic code)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liability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— signed document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Unclear — “the bot said...”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EN378 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tested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knowledge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ASHRAE 15 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tested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knowledge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5149 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tested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knowledge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 (GDPR)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 — own servers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— data leaves EU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(API provider)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EE2E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4114800"/>
            <a:ext cx="54864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installer has an incident and says “the SAMON chatbot told me 2 detectors were enough,” who is liable?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&amp; Real-World Scenarios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2344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ms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651760" cy="123444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1155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3-12 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37560" y="1755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Chatbot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651760" cy="1234440"/>
          </a:xfrm>
          <a:prstGeom prst="rect">
            <a:avLst/>
          </a:prstGeom>
          <a:solidFill>
            <a:srgbClr val="FEE2E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1155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5-30 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1755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210312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Chatbot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5-zone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 sec (clicks)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min (dialogue)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min (dialogue)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concurrent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limiting / 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saturated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show (weak WiFi)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offline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VPN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demos in a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~€50 API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overloaded by noon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Lifespan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years (model changes)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years (model frozen)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Confidential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Verdict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SafeRef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sales, audit,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demos, training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651760" cy="22860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Chatbot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Companion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Pre-sales support,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questions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651760" cy="2286000"/>
          </a:xfrm>
          <a:prstGeom prst="rect">
            <a:avLst/>
          </a:prstGeom>
          <a:solidFill>
            <a:srgbClr val="FEE2E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5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Self-hosted LLM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2/10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1792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cost, mediocre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no team to run 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1E4A6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a powerful technology — but it’s the wrong tool for safety-critical calculations.
</a:t>
            </a:r>
            <a:pPr algn="ctr" indent="0" marL="0">
              <a:buNone/>
            </a:pPr>
            <a:r>
              <a:rPr lang="en-US" sz="13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IS the engine that any future chatbot would need behind it.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SafeRef —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Path Forward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051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3533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SafeRef to SAMON sales team with real-world cases (R717, R744, R290)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Program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2677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trial with 5-10 sales engineers on actual customer projects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&amp; Iterate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1821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UX, add missing products, and optimize for field conditions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794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Deployment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096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rollout with training, production hosting, and ongoing support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617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Chamoun — Orchitech — marwanchamoun@hotmail.com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SafeRef vs AI Chatbot — SAMON Pitch</dc:title>
  <dc:subject>PptxGenJS Presentation</dc:subject>
  <dc:creator>Marwan Chamoun — Orchitech</dc:creator>
  <cp:lastModifiedBy>Marwan Chamoun — Orchitech</cp:lastModifiedBy>
  <cp:revision>1</cp:revision>
  <dcterms:created xsi:type="dcterms:W3CDTF">2026-04-18T12:16:08Z</dcterms:created>
  <dcterms:modified xsi:type="dcterms:W3CDTF">2026-04-18T12:16:08Z</dcterms:modified>
</cp:coreProperties>
</file>