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Coût annuel (€)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1252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SafeRef</c:v>
                  </c:pt>
                  <c:pt idx="1">
                    <c:v>Chatbot API</c:v>
                  </c:pt>
                  <c:pt idx="2">
                    <c:v>LLM Local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600</c:v>
                </c:pt>
                <c:pt idx="1">
                  <c:v>17500</c:v>
                </c:pt>
                <c:pt idx="2">
                  <c:v>17500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1252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9505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9505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5F7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5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</a:t>
            </a:r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DEE2E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vs Chatbot IA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un outil de calcul déterministe bat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chatbot pour la conformité gaz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E4A6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617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Confidentiel — Orchitech × SAMON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0" y="4617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Avril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5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problème aujourd'hui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37490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1417320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173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5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Calcul manuel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25880" y="17373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Norme PDF + Excel + catalogue papier.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Lent, sujet à erreur, non traçable.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1188720"/>
            <a:ext cx="37490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1188720"/>
            <a:ext cx="54864" cy="1417320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173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5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 d'outil dédié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440680" y="17373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concurrent n'offre un outil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conformité + sélection intégré.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2880360"/>
            <a:ext cx="37490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2880360"/>
            <a:ext cx="54864" cy="1417320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1089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5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Risque réglementaire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25880" y="34290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R717, R290, R744 : si le calcul est faux,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conséquences sont mortelles.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663440" y="2880360"/>
            <a:ext cx="37490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663440" y="2880360"/>
            <a:ext cx="54864" cy="1417320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10896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40680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5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Perte commerciale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440680" y="34290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de vente long : le client attend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devis fait à la main pendant des jours.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SafeRef — Pitch Confidentiel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5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solutions possibles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6517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651760" cy="1005840"/>
          </a:xfrm>
          <a:prstGeom prst="rect">
            <a:avLst/>
          </a:prstGeom>
          <a:solidFill>
            <a:srgbClr val="16354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280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SafeRef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88720" y="1645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structuré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85800" y="24231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Moteurs de calcul codés en dur,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produits, wizard multi-étapes,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de devis PDF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37560" y="1188720"/>
            <a:ext cx="26517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37560" y="1188720"/>
            <a:ext cx="2651760" cy="1005840"/>
          </a:xfrm>
          <a:prstGeom prst="rect">
            <a:avLst/>
          </a:prstGeom>
          <a:solidFill>
            <a:srgbClr val="49505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32588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069080" y="1280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Chatbot API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069080" y="1645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/ Claude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566160" y="24231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alimenté par une API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externe, prompté avec le catalogue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les normes EN378/ASHRAE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217920" y="1188720"/>
            <a:ext cx="26517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17920" y="1188720"/>
            <a:ext cx="2651760" cy="1005840"/>
          </a:xfrm>
          <a:prstGeom prst="rect">
            <a:avLst/>
          </a:prstGeom>
          <a:solidFill>
            <a:srgbClr val="868E9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2588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949440" y="1280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Local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949440" y="1645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/ Mistral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446520" y="24231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IA installé en local sur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serveurs SAMON, sans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 externe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SafeRef — Pitch Confidentiel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5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Fiabilité des calculs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E63946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011680"/>
                <a:gridCol w="2011680"/>
                <a:gridCol w="19202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Critère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5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SafeRef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5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Chatbot 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5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Local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54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Déterminisme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identique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Risque hallucination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2-10%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5-20%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Précision calcul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(code)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95-98%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85-95%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 multi-zones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10+ zones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Perd le fil à 2-3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Perd le fil à 1-2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 unitaires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154 tests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Impossible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Impossible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Reproductibilité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Oui, dans 5 ans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— modèle change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— modèle figé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794760"/>
            <a:ext cx="8229600" cy="640080"/>
          </a:xfrm>
          <a:prstGeom prst="rect">
            <a:avLst/>
          </a:prstGeom>
          <a:solidFill>
            <a:srgbClr val="FEE2E6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3794760"/>
            <a:ext cx="54864" cy="64008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794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chatbot dit « probablement conforme ». SafeRef dit « OUI ou NON, voici le calcul exact avec référence EN378 §C.3 ».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SafeRef — Pitch Confidentiel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5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&amp; vitesse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2651760" cy="137160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430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 ms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SafeRef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requête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097280"/>
            <a:ext cx="2651760" cy="137160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1430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3-12 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337560" y="18745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requête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097280"/>
            <a:ext cx="2651760" cy="1371600"/>
          </a:xfrm>
          <a:prstGeom prst="rect">
            <a:avLst/>
          </a:prstGeom>
          <a:solidFill>
            <a:srgbClr val="FEE2E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1430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5-30 s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217920" y="18745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Local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requête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4320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011680"/>
                <a:gridCol w="2011680"/>
                <a:gridCol w="19202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Scénario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5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SafeRef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5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Chatbot 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5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Local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54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 5 zones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5-10 sec (clics)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 min (dialogue)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3-5 min (dialogue)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users simultanés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 problème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limiting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saturé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Salon / WiFi faible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Fonctionne offline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VPN requis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Coût 1000 req/jour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50-300€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~20€ + hardware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SafeRef — Pitch Confidentiel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5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Comparaison des coûts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E63946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011680"/>
                <a:gridCol w="2011680"/>
                <a:gridCol w="19202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Poste de coût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5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SafeRef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5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Chatbot 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5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Local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54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Développement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Déjà fait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3-8k€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15-50k€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Hébergement / mois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20-50€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0€ (API tiers)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500-2000€ (GPU)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Coût par requête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~0.001€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0.05-0.30€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~0.02€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requis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5-15k€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Coût annuel (usage moyen)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~600€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5 000-30 000€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10 000-25 000€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Mise à jour produits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0€ (admin)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0€ (re-index)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500-2000€ (fine-tune)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Compétence requise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web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engineer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engineer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457200" y="3703320"/>
          <a:ext cx="8229600" cy="914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SafeRef — Pitch Confidentiel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5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Conformité réglementaire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E63946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011680"/>
                <a:gridCol w="2011680"/>
                <a:gridCol w="19202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Critère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5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SafeRef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5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Chatbot 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5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Local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54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Traçabilité du calcul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 complète (§C.3)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Certifiable par organisme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Responsabilité légale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signé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EN378 implémentée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 (code testé)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Connaissance partielle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Très partielle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ASHRAE 15 implémentée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 (code testé)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Connaissance partielle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Très partielle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5149 implémentée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 (code testé)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Connaissance partielle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Très partielle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Mise à jour norme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Modifier code + tests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Re-indexer + espérer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Impossible sans retrain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solidFill>
            <a:srgbClr val="FEE2E6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4069080"/>
            <a:ext cx="54864" cy="5029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40690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installateur a un incident et dit « le chatbot SAMON m'a dit que 2 détecteurs suffisaient », qui est responsable ?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SafeRef — Pitch Confidentiel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5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visuel &amp; outil de vente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3840480" cy="502920"/>
          </a:xfrm>
          <a:prstGeom prst="rect">
            <a:avLst/>
          </a:prstGeom>
          <a:solidFill>
            <a:srgbClr val="16354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61288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143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SafeRef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1783080"/>
            <a:ext cx="32918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 professionnel en 5 étapes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 produits avec photos et specs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EN378 avec trace normative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structuré (codes, prix, remises)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Devis PDF professionnel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de démo en rendez-vous client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de formation pour les techniciens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 au salon sans WiFi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46320" y="109728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1097280"/>
            <a:ext cx="3840480" cy="502920"/>
          </a:xfrm>
          <a:prstGeom prst="rect">
            <a:avLst/>
          </a:prstGeom>
          <a:solidFill>
            <a:srgbClr val="49505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61288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143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Chatbot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120640" y="1783080"/>
            <a:ext cx="32918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 de chat basique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libre, pas de visuels produits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trace normative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BOM structuré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PDF professionnel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Ressemble à un support client gratuit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N'apprend rien à l'utilisateur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Nécessite internet (API) ou VPN (local)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SafeRef — Pitch Confidentiel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5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Sécurité &amp; confidentialité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E63946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011680"/>
                <a:gridCol w="2011680"/>
                <a:gridCol w="19202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Critère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5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SafeRef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5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Chatbot 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5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Local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54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Données clients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Serveur maîtrisé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Chez OpenAI/Anthropic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interne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Prix &amp; remises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privée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Transitent par API externe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interne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RGPD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Conforme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Problème (hors UE)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Conforme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Dépendance fournisseur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Risque coupure service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Très faible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Élevé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246120"/>
            <a:ext cx="8229600" cy="50292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3246120"/>
            <a:ext cx="54864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2461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un chatbot API, les projets des clients SAMON (installations, prix négociés) transitent par des serveurs tiers.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SafeRef — Pitch Confidentiel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5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Maintenance &amp; durée de vie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E63946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011680"/>
                <a:gridCol w="2011680"/>
                <a:gridCol w="19202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Événement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5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SafeRef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5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Chatbot 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5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Local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54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Prix produit change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→ immédiat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Re-indexer docs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Re-fine-tuner (jours)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Nouveau produit lancé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→ immédiat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Re-indexer + tester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Re-fine-tuner (jours)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Norme mise à jour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Modifier code + tests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Re-indexer 200 pages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Re-training complet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Nouvelle norme (ASHRAE 34)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Ajouter fichier .ts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Ajouter docs + espérer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Impossible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Durée de vie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5-10 ans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 ans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 ans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Compétence maintenance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web classique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engineer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engineer (rare)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SafeRef — Pitch Confidentiel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35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verdict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210312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344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5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SafeRef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8.5/10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principal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Conformité, vente, audit,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démo, formation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097280"/>
            <a:ext cx="2651760" cy="210312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12344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5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Chatbot API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37560" y="15544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5/10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337560" y="2103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Complément FAQ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24688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avant-vente,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générales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097280"/>
            <a:ext cx="2651760" cy="2103120"/>
          </a:xfrm>
          <a:prstGeom prst="rect">
            <a:avLst/>
          </a:prstGeom>
          <a:solidFill>
            <a:srgbClr val="FEE2E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12344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5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Local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17920" y="15544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3/10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217920" y="2103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recommandé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24688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Coût/bénéfice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désastreux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solidFill>
            <a:srgbClr val="1E4A6A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5204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SafeRef n'est pas menacé par un chatbot.
</a:t>
            </a:r>
            <a:pPr algn="ctr" indent="0" marL="0">
              <a:buNone/>
            </a:pPr>
            <a:r>
              <a:rPr lang="en-US" sz="140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SafeRef EST le moteur que n'importe quel chatbot aurait besoin derrière lui.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SafeRef — Pitch Confidentiel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35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Prochaines étapes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0515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Démo live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3533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SafeRef à l'équipe commerciale SAMON avec cas concrets (R717, R744, R290)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19659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2677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mois d'utilisation par 5-10 commerciaux SAMON sur des projets réels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926080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28803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Feedback &amp; ajustements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1821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l'outil aux retours terrain (UX, produits manquants, cas d'usage)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37947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Déploiement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40965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complet avec formation, hébergement production, et support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E4A6A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617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Marwan Chamoun — Orchitech — marwanchamoun@hotmail.com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SafeRef vs Chatbot — Pitch SAMON</dc:title>
  <dc:subject>PptxGenJS Presentation</dc:subject>
  <dc:creator>Marwan Chamoun — Orchitech</dc:creator>
  <cp:lastModifiedBy>Marwan Chamoun — Orchitech</cp:lastModifiedBy>
  <cp:revision>1</cp:revision>
  <dcterms:created xsi:type="dcterms:W3CDTF">2026-04-18T11:42:21Z</dcterms:created>
  <dcterms:modified xsi:type="dcterms:W3CDTF">2026-04-18T11:42:21Z</dcterms:modified>
</cp:coreProperties>
</file>